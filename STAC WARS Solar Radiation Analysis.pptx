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theme" Target="theme/theme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body">
    <p:bg>
      <p:bgPr>
        <a:solidFill>
          <a:srgbClr val="FFB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83530"/>
            <a:ext cx="121920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>
                <a:solidFill>
                  <a:srgbClr val="141413"/>
                </a:solidFill>
                <a:latin typeface="Orbitron"/>
                <a:ea typeface="Orbitron"/>
                <a:cs typeface="Orbitron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0" y="1191220"/>
            <a:ext cx="11379200" cy="485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41413"/>
                </a:solidFill>
                <a:latin typeface="Share Tech Mono"/>
                <a:ea typeface="Share Tech Mono"/>
                <a:cs typeface="Share Tech Mono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lide background 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83530"/>
            <a:ext cx="121920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>
                <a:solidFill>
                  <a:srgbClr val="F3E6C8"/>
                </a:solidFill>
                <a:latin typeface="Orbitron"/>
                <a:ea typeface="Orbitron"/>
                <a:cs typeface="Orbitron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0" y="1191220"/>
            <a:ext cx="11379200" cy="485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FAF9F5"/>
                </a:solidFill>
                <a:latin typeface="Share Tech Mono"/>
                <a:ea typeface="Share Tech Mono"/>
                <a:cs typeface="Share Tech Mono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AC WARS: Solar Radiation Analysis">
    <p:bg>
      <p:bgPr>
        <a:solidFill>
          <a:srgbClr val="FFB3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383530"/>
            <a:ext cx="121920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>
                <a:solidFill>
                  <a:srgbClr val="141413"/>
                </a:solidFill>
                <a:latin typeface="Orbitron"/>
                <a:ea typeface="Orbitron"/>
                <a:cs typeface="Orbitron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0" y="1191220"/>
            <a:ext cx="11379200" cy="4853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>
                <a:solidFill>
                  <a:srgbClr val="141413"/>
                </a:solidFill>
                <a:latin typeface="Share Tech Mono"/>
                <a:ea typeface="Share Tech Mono"/>
                <a:cs typeface="Share Tech Mono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01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12800" y="50800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MISSION BRIEFING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1025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7875"/>
              </a:lnSpc>
              <a:buNone/>
            </a:pPr>
            <a:r>
              <a:rPr lang="en-US" sz="75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STAC WARS</a:t>
            </a:r>
            <a:endParaRPr lang="en-US" sz="7500"/>
          </a:p>
        </p:txBody>
      </p:sp>
      <p:sp>
        <p:nvSpPr>
          <p:cNvPr id="9" name="Text 3"/>
          <p:cNvSpPr/>
          <p:nvPr/>
        </p:nvSpPr>
        <p:spPr>
          <a:xfrm>
            <a:off x="0" y="1536055"/>
            <a:ext cx="1255776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40"/>
              </a:lnSpc>
              <a:buNone/>
            </a:pPr>
            <a:r>
              <a:rPr lang="en-US" sz="2600" b="1">
                <a:solidFill>
                  <a:srgbClr val="FFF4D6"/>
                </a:solidFill>
                <a:latin typeface="Orbitron"/>
                <a:ea typeface="Orbitron"/>
                <a:cs typeface="Orbitron"/>
              </a:rPr>
              <a:t>SOLAR RADIATION ANALYSIS</a:t>
            </a:r>
            <a:endParaRPr lang="en-US" sz="2600"/>
          </a:p>
        </p:txBody>
      </p:sp>
      <p:sp>
        <p:nvSpPr>
          <p:cNvPr id="10" name="Text 4"/>
          <p:cNvSpPr/>
          <p:nvPr/>
        </p:nvSpPr>
        <p:spPr>
          <a:xfrm>
            <a:off x="0" y="2150715"/>
            <a:ext cx="125577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Voyage-123 decoded: read the sun, power the Rebellion</a:t>
            </a:r>
            <a:endParaRPr lang="en-US" sz="1500"/>
          </a:p>
        </p:txBody>
      </p:sp>
      <p:sp>
        <p:nvSpPr>
          <p:cNvPr id="11" name="Text 5"/>
          <p:cNvSpPr/>
          <p:nvPr/>
        </p:nvSpPr>
        <p:spPr>
          <a:xfrm>
            <a:off x="6350" y="2576165"/>
            <a:ext cx="4051300" cy="932160"/>
          </a:xfrm>
          <a:prstGeom prst="roundRect">
            <a:avLst>
              <a:gd name="adj" fmla="val 7493"/>
            </a:avLst>
          </a:prstGeom>
          <a:solidFill>
            <a:srgbClr val="120A24"/>
          </a:solidFill>
          <a:ln w="12700">
            <a:solidFill>
              <a:srgbClr val="7FE7FF"/>
            </a:solidFill>
            <a:prstDash val="solid"/>
          </a:ln>
        </p:spPr>
        <p:txBody>
          <a:bodyPr wrap="square" lIns="189092" tIns="125592" rIns="80126" bIns="100192" rtlCol="0" anchor="t">
            <a:normAutofit/>
          </a:bodyPr>
          <a:lstStyle/>
          <a:p>
            <a:pPr marL="0" indent="0" algn="l">
              <a:lnSpc>
                <a:spcPts val="2520"/>
              </a:lnSpc>
              <a:buNone/>
            </a:pPr>
            <a:r>
              <a:rPr lang="en-US" sz="1800">
                <a:solidFill>
                  <a:srgbClr val="7FE7FF"/>
                </a:solidFill>
                <a:latin typeface="Share Tech Mono"/>
                <a:ea typeface="Share Tech Mono"/>
                <a:cs typeface="Share Tech Mono"/>
              </a:rPr>
              <a:t>&gt; learn the sun, power the base_</a:t>
            </a:r>
            <a:endParaRPr lang="en-US" sz="1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1320000"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02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667000" y="50800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INCOMING SIGNAL 001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TRANSMISSION RECEIVED</a:t>
            </a:r>
            <a:endParaRPr lang="en-US" sz="3600"/>
          </a:p>
        </p:txBody>
      </p:sp>
      <p:sp>
        <p:nvSpPr>
          <p:cNvPr id="9" name="Text 3"/>
          <p:cNvSpPr/>
          <p:nvPr/>
        </p:nvSpPr>
        <p:spPr>
          <a:xfrm>
            <a:off x="0" y="1545630"/>
            <a:ext cx="592569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The Rebellion base runs on sunlight. To prevent blackouts, it must predict solar activity.</a:t>
            </a:r>
            <a:endParaRPr lang="en-US" sz="1700"/>
          </a:p>
        </p:txBody>
      </p:sp>
      <p:sp>
        <p:nvSpPr>
          <p:cNvPr id="10" name="Text 4"/>
          <p:cNvSpPr/>
          <p:nvPr/>
        </p:nvSpPr>
        <p:spPr>
          <a:xfrm>
            <a:off x="0" y="2277070"/>
            <a:ext cx="5925693" cy="629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The probe Voyage-123 logged the sun on a remote world. This is what it saw.</a:t>
            </a:r>
            <a:endParaRPr lang="en-US" sz="1700"/>
          </a:p>
        </p:txBody>
      </p:sp>
      <p:sp>
        <p:nvSpPr>
          <p:cNvPr id="11" name="Shape 5"/>
          <p:cNvSpPr/>
          <p:nvPr/>
        </p:nvSpPr>
        <p:spPr>
          <a:xfrm>
            <a:off x="6013450" y="1045170"/>
            <a:ext cx="6172200" cy="2336800"/>
          </a:xfrm>
          <a:prstGeom prst="roundRect">
            <a:avLst>
              <a:gd name="adj" fmla="val 4620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6223000" y="12547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VOYAGE-123 // LOG</a:t>
            </a:r>
            <a:endParaRPr lang="en-US" sz="1500"/>
          </a:p>
        </p:txBody>
      </p:sp>
      <p:sp>
        <p:nvSpPr>
          <p:cNvPr id="13" name="Text 7"/>
          <p:cNvSpPr/>
          <p:nvPr/>
        </p:nvSpPr>
        <p:spPr>
          <a:xfrm>
            <a:off x="6223000" y="15849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32,686 readings</a:t>
            </a:r>
            <a:endParaRPr lang="en-US" sz="1500"/>
          </a:p>
        </p:txBody>
      </p:sp>
      <p:sp>
        <p:nvSpPr>
          <p:cNvPr id="14" name="Text 8"/>
          <p:cNvSpPr/>
          <p:nvPr/>
        </p:nvSpPr>
        <p:spPr>
          <a:xfrm>
            <a:off x="6223000" y="19151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118 days, every 5 minutes</a:t>
            </a:r>
            <a:endParaRPr lang="en-US" sz="1500"/>
          </a:p>
        </p:txBody>
      </p:sp>
      <p:sp>
        <p:nvSpPr>
          <p:cNvPr id="15" name="Text 9"/>
          <p:cNvSpPr/>
          <p:nvPr/>
        </p:nvSpPr>
        <p:spPr>
          <a:xfrm>
            <a:off x="6223000" y="22453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1 Sep to 31 Dec 2016</a:t>
            </a:r>
            <a:endParaRPr lang="en-US" sz="1500"/>
          </a:p>
        </p:txBody>
      </p:sp>
      <p:sp>
        <p:nvSpPr>
          <p:cNvPr id="16" name="Text 10"/>
          <p:cNvSpPr/>
          <p:nvPr/>
        </p:nvSpPr>
        <p:spPr>
          <a:xfrm>
            <a:off x="6223000" y="25755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Radiation · temperature · pressure</a:t>
            </a:r>
            <a:endParaRPr lang="en-US" sz="1500"/>
          </a:p>
        </p:txBody>
      </p:sp>
      <p:sp>
        <p:nvSpPr>
          <p:cNvPr id="17" name="Text 11"/>
          <p:cNvSpPr/>
          <p:nvPr/>
        </p:nvSpPr>
        <p:spPr>
          <a:xfrm>
            <a:off x="6223000" y="2905720"/>
            <a:ext cx="592569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Humidity · wind · sunrise · sunset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2640000"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03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826000" y="50165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PART A // NAVIGATION COMPUTER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DATA VISUALIZATION</a:t>
            </a:r>
            <a:endParaRPr lang="en-US" sz="3600"/>
          </a:p>
        </p:txBody>
      </p:sp>
      <p:sp>
        <p:nvSpPr>
          <p:cNvPr id="9" name="Shape 3"/>
          <p:cNvSpPr/>
          <p:nvPr/>
        </p:nvSpPr>
        <p:spPr>
          <a:xfrm>
            <a:off x="6350" y="1045170"/>
            <a:ext cx="5981700" cy="2504430"/>
          </a:xfrm>
          <a:prstGeom prst="roundRect">
            <a:avLst>
              <a:gd name="adj" fmla="val 4310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0" name="Image 4" descr="Chart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15900" y="1254720"/>
            <a:ext cx="4699000" cy="17780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5900" y="3108920"/>
            <a:ext cx="572947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Radiation over a day: one hump, peak at noon</a:t>
            </a:r>
            <a:endParaRPr lang="en-US" sz="1300"/>
          </a:p>
        </p:txBody>
      </p:sp>
      <p:sp>
        <p:nvSpPr>
          <p:cNvPr id="12" name="Shape 5"/>
          <p:cNvSpPr/>
          <p:nvPr/>
        </p:nvSpPr>
        <p:spPr>
          <a:xfrm>
            <a:off x="6203950" y="1045170"/>
            <a:ext cx="5981700" cy="2504430"/>
          </a:xfrm>
          <a:prstGeom prst="roundRect">
            <a:avLst>
              <a:gd name="adj" fmla="val 4310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3" name="Image 5" descr="Chart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13500" y="1254720"/>
            <a:ext cx="4699000" cy="1778000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6413500" y="3108920"/>
            <a:ext cx="572947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Radiation vs temperature: rises together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3960000"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04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731000" y="48895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PART B // TARGETING COMPUTER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DRAWING INFERENCES</a:t>
            </a:r>
            <a:endParaRPr lang="en-US" sz="3600"/>
          </a:p>
        </p:txBody>
      </p:sp>
      <p:sp>
        <p:nvSpPr>
          <p:cNvPr id="9" name="Shape 3"/>
          <p:cNvSpPr/>
          <p:nvPr/>
        </p:nvSpPr>
        <p:spPr>
          <a:xfrm>
            <a:off x="6350" y="1045170"/>
            <a:ext cx="3932734" cy="1968996"/>
          </a:xfrm>
          <a:prstGeom prst="roundRect">
            <a:avLst>
              <a:gd name="adj" fmla="val 5482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215900" y="1254720"/>
            <a:ext cx="3619043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PEAK TIME</a:t>
            </a:r>
            <a:endParaRPr lang="en-US" sz="1300"/>
          </a:p>
        </p:txBody>
      </p:sp>
      <p:sp>
        <p:nvSpPr>
          <p:cNvPr id="11" name="Text 5"/>
          <p:cNvSpPr/>
          <p:nvPr/>
        </p:nvSpPr>
        <p:spPr>
          <a:xfrm>
            <a:off x="215900" y="1562050"/>
            <a:ext cx="3619043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>
                <a:solidFill>
                  <a:srgbClr val="FFE9B0"/>
                </a:solidFill>
                <a:latin typeface="Orbitron"/>
                <a:ea typeface="Orbitron"/>
                <a:cs typeface="Orbitron"/>
              </a:rPr>
              <a:t>12:00</a:t>
            </a:r>
            <a:endParaRPr lang="en-US" sz="2800"/>
          </a:p>
        </p:txBody>
      </p:sp>
      <p:sp>
        <p:nvSpPr>
          <p:cNvPr id="12" name="Text 6"/>
          <p:cNvSpPr/>
          <p:nvPr/>
        </p:nvSpPr>
        <p:spPr>
          <a:xfrm>
            <a:off x="215900" y="2136080"/>
            <a:ext cx="36190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Hour 12 averages 727.5 W/m². Near zero from 19:00 to 05:59.</a:t>
            </a:r>
            <a:endParaRPr lang="en-US" sz="1300"/>
          </a:p>
        </p:txBody>
      </p:sp>
      <p:sp>
        <p:nvSpPr>
          <p:cNvPr id="13" name="Shape 7"/>
          <p:cNvSpPr/>
          <p:nvPr/>
        </p:nvSpPr>
        <p:spPr>
          <a:xfrm>
            <a:off x="4129584" y="1045170"/>
            <a:ext cx="3932783" cy="1968996"/>
          </a:xfrm>
          <a:prstGeom prst="roundRect">
            <a:avLst>
              <a:gd name="adj" fmla="val 5482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4339134" y="1254720"/>
            <a:ext cx="36190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STRONGEST LINK</a:t>
            </a:r>
            <a:endParaRPr lang="en-US" sz="1300"/>
          </a:p>
        </p:txBody>
      </p:sp>
      <p:sp>
        <p:nvSpPr>
          <p:cNvPr id="15" name="Text 9"/>
          <p:cNvSpPr/>
          <p:nvPr/>
        </p:nvSpPr>
        <p:spPr>
          <a:xfrm>
            <a:off x="4339134" y="1562050"/>
            <a:ext cx="361909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>
                <a:solidFill>
                  <a:srgbClr val="FFE9B0"/>
                </a:solidFill>
                <a:latin typeface="Orbitron"/>
                <a:ea typeface="Orbitron"/>
                <a:cs typeface="Orbitron"/>
              </a:rPr>
              <a:t>r = +0.74</a:t>
            </a:r>
            <a:endParaRPr lang="en-US" sz="2800"/>
          </a:p>
        </p:txBody>
      </p:sp>
      <p:sp>
        <p:nvSpPr>
          <p:cNvPr id="16" name="Text 10"/>
          <p:cNvSpPr/>
          <p:nvPr/>
        </p:nvSpPr>
        <p:spPr>
          <a:xfrm>
            <a:off x="4339134" y="2136080"/>
            <a:ext cx="3619094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Temperature. Humid midday reads 418 W/m², dry midday 856.</a:t>
            </a:r>
            <a:endParaRPr lang="en-US" sz="1300"/>
          </a:p>
        </p:txBody>
      </p:sp>
      <p:sp>
        <p:nvSpPr>
          <p:cNvPr id="17" name="Shape 11"/>
          <p:cNvSpPr/>
          <p:nvPr/>
        </p:nvSpPr>
        <p:spPr>
          <a:xfrm>
            <a:off x="8252867" y="1045170"/>
            <a:ext cx="3932783" cy="1968996"/>
          </a:xfrm>
          <a:prstGeom prst="roundRect">
            <a:avLst>
              <a:gd name="adj" fmla="val 5482"/>
            </a:avLst>
          </a:prstGeom>
          <a:solidFill>
            <a:srgbClr val="120A24"/>
          </a:solidFill>
          <a:ln w="12700">
            <a:solidFill>
              <a:srgbClr val="FFE9B0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8462417" y="1254720"/>
            <a:ext cx="3619094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ANOMALY</a:t>
            </a:r>
            <a:endParaRPr lang="en-US" sz="1300"/>
          </a:p>
        </p:txBody>
      </p:sp>
      <p:sp>
        <p:nvSpPr>
          <p:cNvPr id="19" name="Text 13"/>
          <p:cNvSpPr/>
          <p:nvPr/>
        </p:nvSpPr>
        <p:spPr>
          <a:xfrm>
            <a:off x="8462417" y="1562050"/>
            <a:ext cx="3619094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>
                <a:solidFill>
                  <a:srgbClr val="FFE9B0"/>
                </a:solidFill>
                <a:latin typeface="Orbitron"/>
                <a:ea typeface="Orbitron"/>
                <a:cs typeface="Orbitron"/>
              </a:rPr>
              <a:t>1601</a:t>
            </a:r>
            <a:endParaRPr lang="en-US" sz="2800"/>
          </a:p>
        </p:txBody>
      </p:sp>
      <p:sp>
        <p:nvSpPr>
          <p:cNvPr id="20" name="Text 14"/>
          <p:cNvSpPr/>
          <p:nvPr/>
        </p:nvSpPr>
        <p:spPr>
          <a:xfrm>
            <a:off x="8462417" y="2136080"/>
            <a:ext cx="3619094" cy="693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W/m² spike on 4 Sep, likely cloud-edge glare. 4,311 humidity readings exceed 100%.</a:t>
            </a:r>
            <a:endParaRPr lang="en-US" sz="13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280000"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05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255000" y="46355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PART C // DAILY DASHBOARD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SOLAR DAY ANALYSIS</a:t>
            </a:r>
            <a:endParaRPr lang="en-US" sz="3600"/>
          </a:p>
        </p:txBody>
      </p:sp>
      <p:sp>
        <p:nvSpPr>
          <p:cNvPr id="9" name="Shape 3"/>
          <p:cNvSpPr/>
          <p:nvPr/>
        </p:nvSpPr>
        <p:spPr>
          <a:xfrm>
            <a:off x="6350" y="1279128"/>
            <a:ext cx="5676900" cy="1698526"/>
          </a:xfrm>
          <a:prstGeom prst="roundRect">
            <a:avLst>
              <a:gd name="adj" fmla="val 6356"/>
            </a:avLst>
          </a:prstGeom>
          <a:solidFill>
            <a:srgbClr val="120A24"/>
          </a:solidFill>
          <a:ln w="12700">
            <a:solidFill>
              <a:srgbClr val="7FE7FF"/>
            </a:solidFill>
            <a:prstDash val="solid"/>
          </a:ln>
        </p:spPr>
      </p:sp>
      <p:sp>
        <p:nvSpPr>
          <p:cNvPr id="10" name="Text 4"/>
          <p:cNvSpPr/>
          <p:nvPr/>
        </p:nvSpPr>
        <p:spPr>
          <a:xfrm>
            <a:off x="215900" y="1488678"/>
            <a:ext cx="541553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>
                <a:solidFill>
                  <a:srgbClr val="8A7E62"/>
                </a:solidFill>
                <a:latin typeface="Share Tech Mono"/>
                <a:ea typeface="Share Tech Mono"/>
                <a:cs typeface="Share Tech Mono"/>
              </a:rPr>
              <a:t>raw log + Pandas / NumPy</a:t>
            </a:r>
            <a:endParaRPr lang="en-US" sz="1300"/>
          </a:p>
        </p:txBody>
      </p:sp>
      <p:sp>
        <p:nvSpPr>
          <p:cNvPr id="11" name="Text 5"/>
          <p:cNvSpPr/>
          <p:nvPr/>
        </p:nvSpPr>
        <p:spPr>
          <a:xfrm>
            <a:off x="215900" y="1744563"/>
            <a:ext cx="541553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>
                <a:solidFill>
                  <a:srgbClr val="7FE7FF"/>
                </a:solidFill>
                <a:latin typeface="Share Tech Mono"/>
                <a:ea typeface="Share Tech Mono"/>
                <a:cs typeface="Share Tech Mono"/>
              </a:rPr>
              <a:t>df["Datetime"] = pd.to_datetime(</a:t>
            </a:r>
            <a:endParaRPr lang="en-US" sz="1300"/>
          </a:p>
        </p:txBody>
      </p:sp>
      <p:sp>
        <p:nvSpPr>
          <p:cNvPr id="12" name="Text 6"/>
          <p:cNvSpPr/>
          <p:nvPr/>
        </p:nvSpPr>
        <p:spPr>
          <a:xfrm>
            <a:off x="215900" y="2000448"/>
            <a:ext cx="541553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>
                <a:solidFill>
                  <a:srgbClr val="7FE7FF"/>
                </a:solidFill>
                <a:latin typeface="Share Tech Mono"/>
                <a:ea typeface="Share Tech Mono"/>
                <a:cs typeface="Share Tech Mono"/>
              </a:rPr>
              <a:t>  df["Data"] + " " + df["Time"])</a:t>
            </a:r>
            <a:endParaRPr lang="en-US" sz="1300"/>
          </a:p>
        </p:txBody>
      </p:sp>
      <p:sp>
        <p:nvSpPr>
          <p:cNvPr id="13" name="Text 7"/>
          <p:cNvSpPr/>
          <p:nvPr/>
        </p:nvSpPr>
        <p:spPr>
          <a:xfrm>
            <a:off x="215900" y="2256334"/>
            <a:ext cx="541553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>
                <a:solidFill>
                  <a:srgbClr val="7FE7FF"/>
                </a:solidFill>
                <a:latin typeface="Share Tech Mono"/>
                <a:ea typeface="Share Tech Mono"/>
                <a:cs typeface="Share Tech Mono"/>
              </a:rPr>
              <a:t>daily = df.groupby("Date")</a:t>
            </a:r>
            <a:endParaRPr lang="en-US" sz="1300"/>
          </a:p>
        </p:txBody>
      </p:sp>
      <p:sp>
        <p:nvSpPr>
          <p:cNvPr id="14" name="Text 8"/>
          <p:cNvSpPr/>
          <p:nvPr/>
        </p:nvSpPr>
        <p:spPr>
          <a:xfrm>
            <a:off x="215900" y="2512219"/>
            <a:ext cx="5415534" cy="281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>
                <a:solidFill>
                  <a:srgbClr val="7FE7FF"/>
                </a:solidFill>
                <a:latin typeface="Share Tech Mono"/>
                <a:ea typeface="Share Tech Mono"/>
                <a:cs typeface="Share Tech Mono"/>
              </a:rPr>
              <a:t>  ["Radiation"].agg(["max","mean"])</a:t>
            </a:r>
            <a:endParaRPr lang="en-US" sz="1300"/>
          </a:p>
        </p:txBody>
      </p:sp>
      <p:pic>
        <p:nvPicPr>
          <p:cNvPr id="15" name="Image 4" descr="Arrow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867400" y="1899791"/>
            <a:ext cx="457200" cy="457200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6508750" y="1045170"/>
            <a:ext cx="5676900" cy="2166441"/>
          </a:xfrm>
          <a:prstGeom prst="roundRect">
            <a:avLst>
              <a:gd name="adj" fmla="val 4983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718300" y="1254720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PEAK DAY // 2016-09-04</a:t>
            </a:r>
            <a:endParaRPr lang="en-US" sz="1400"/>
          </a:p>
        </p:txBody>
      </p:sp>
      <p:sp>
        <p:nvSpPr>
          <p:cNvPr id="18" name="Text 11"/>
          <p:cNvSpPr/>
          <p:nvPr/>
        </p:nvSpPr>
        <p:spPr>
          <a:xfrm>
            <a:off x="6718300" y="1554411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Peak </a:t>
            </a:r>
            <a:r>
              <a:rPr lang="en-US" sz="1400" b="1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1601.26 W/m²</a:t>
            </a:r>
            <a:r>
              <a:rPr lang="en-US" sz="14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 at 12:15</a:t>
            </a:r>
            <a:endParaRPr lang="en-US" sz="1400"/>
          </a:p>
        </p:txBody>
      </p:sp>
      <p:sp>
        <p:nvSpPr>
          <p:cNvPr id="19" name="Text 12"/>
          <p:cNvSpPr/>
          <p:nvPr/>
        </p:nvSpPr>
        <p:spPr>
          <a:xfrm>
            <a:off x="6718300" y="1854101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Temp 61 · Humidity 93% · Wind 9.0</a:t>
            </a:r>
            <a:endParaRPr lang="en-US" sz="1400"/>
          </a:p>
        </p:txBody>
      </p:sp>
      <p:sp>
        <p:nvSpPr>
          <p:cNvPr id="20" name="Text 13"/>
          <p:cNvSpPr/>
          <p:nvPr/>
        </p:nvSpPr>
        <p:spPr>
          <a:xfrm>
            <a:off x="6718300" y="2153791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Sunrise 06:08 · Sunset 18:35</a:t>
            </a:r>
            <a:endParaRPr lang="en-US" sz="1400"/>
          </a:p>
        </p:txBody>
      </p:sp>
      <p:sp>
        <p:nvSpPr>
          <p:cNvPr id="21" name="Text 14"/>
          <p:cNvSpPr/>
          <p:nvPr/>
        </p:nvSpPr>
        <p:spPr>
          <a:xfrm>
            <a:off x="6718300" y="2453481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Peak: 6 h 7 min after sunrise</a:t>
            </a:r>
            <a:endParaRPr lang="en-US" sz="1400"/>
          </a:p>
        </p:txBody>
      </p:sp>
      <p:sp>
        <p:nvSpPr>
          <p:cNvPr id="22" name="Text 15"/>
          <p:cNvSpPr/>
          <p:nvPr/>
        </p:nvSpPr>
        <p:spPr>
          <a:xfrm>
            <a:off x="6718300" y="2753171"/>
            <a:ext cx="5415534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Top avg days: Sep 19, 2, 22, 25, 28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tars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Sun rays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6600000">
            <a:off x="5715000" y="762000"/>
            <a:ext cx="6096000" cy="6096000"/>
          </a:xfrm>
          <a:prstGeom prst="rect">
            <a:avLst/>
          </a:prstGeom>
        </p:spPr>
      </p:pic>
      <p:pic>
        <p:nvPicPr>
          <p:cNvPr id="4" name="Image 2" descr="The sun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0" y="2540000"/>
            <a:ext cx="2540000" cy="25400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698500" y="127000"/>
            <a:ext cx="8502650" cy="2311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0"/>
              </a:lnSpc>
              <a:buNone/>
            </a:pPr>
            <a:r>
              <a:rPr lang="en-US" sz="18000" b="1">
                <a:solidFill>
                  <a:srgbClr val="241240"/>
                </a:solidFill>
                <a:latin typeface="Orbitron"/>
                <a:ea typeface="Orbitron"/>
                <a:cs typeface="Orbitron"/>
              </a:rPr>
              <a:t>06</a:t>
            </a:r>
            <a:endParaRPr lang="en-US" sz="18000"/>
          </a:p>
        </p:txBody>
      </p:sp>
      <p:pic>
        <p:nvPicPr>
          <p:cNvPr id="6" name="Image 3" descr="Rebel starfighter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763000" y="4191000"/>
            <a:ext cx="2286000" cy="88900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0" y="0"/>
            <a:ext cx="1255776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kern="0" spc="25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// BONUS // PREDICTIVE RADAR</a:t>
            </a:r>
            <a:endParaRPr lang="en-US" sz="1300"/>
          </a:p>
        </p:txBody>
      </p:sp>
      <p:sp>
        <p:nvSpPr>
          <p:cNvPr id="8" name="Text 2"/>
          <p:cNvSpPr>
            <a:spLocks noGrp="1"/>
          </p:cNvSpPr>
          <p:nvPr>
            <p:ph type="title"/>
          </p:nvPr>
        </p:nvSpPr>
        <p:spPr>
          <a:xfrm>
            <a:off x="0" y="383530"/>
            <a:ext cx="1255776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000" b="1" i="0">
                <a:gradFill rotWithShape="1">
                  <a:gsLst>
                    <a:gs pos="0">
                      <a:srgbClr val="FFF4D6"/>
                    </a:gs>
                    <a:gs pos="100000">
                      <a:srgbClr val="FFB347"/>
                    </a:gs>
                  </a:gsLst>
                  <a:lin ang="0" scaled="0"/>
                </a:gradFill>
                <a:latin typeface="Orbitron"/>
                <a:ea typeface="Orbitron"/>
                <a:cs typeface="Orbitron"/>
              </a:rPr>
              <a:t>MACHINE LEARNING PREDICTION</a:t>
            </a:r>
            <a:endParaRPr lang="en-US" sz="3000"/>
          </a:p>
        </p:txBody>
      </p:sp>
      <p:sp>
        <p:nvSpPr>
          <p:cNvPr id="9" name="Shape 3"/>
          <p:cNvSpPr/>
          <p:nvPr/>
        </p:nvSpPr>
        <p:spPr>
          <a:xfrm>
            <a:off x="6350" y="961380"/>
            <a:ext cx="6197600" cy="2523976"/>
          </a:xfrm>
          <a:prstGeom prst="roundRect">
            <a:avLst>
              <a:gd name="adj" fmla="val 4277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pic>
        <p:nvPicPr>
          <p:cNvPr id="10" name="Image 4" descr="Chart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215900" y="1170930"/>
            <a:ext cx="4699000" cy="177800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15900" y="3025130"/>
            <a:ext cx="595185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E9B0"/>
                </a:solidFill>
                <a:latin typeface="Share Tech Mono"/>
                <a:ea typeface="Share Tech Mono"/>
                <a:cs typeface="Share Tech Mono"/>
              </a:rPr>
              <a:t>Forecast (dashed) tracks the real curve</a:t>
            </a:r>
            <a:endParaRPr lang="en-US" sz="1300"/>
          </a:p>
        </p:txBody>
      </p:sp>
      <p:sp>
        <p:nvSpPr>
          <p:cNvPr id="12" name="Shape 5"/>
          <p:cNvSpPr/>
          <p:nvPr/>
        </p:nvSpPr>
        <p:spPr>
          <a:xfrm>
            <a:off x="6419850" y="961380"/>
            <a:ext cx="2813050" cy="1523305"/>
          </a:xfrm>
          <a:prstGeom prst="roundRect">
            <a:avLst>
              <a:gd name="adj" fmla="val 7087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3" name="Text 6"/>
          <p:cNvSpPr/>
          <p:nvPr/>
        </p:nvSpPr>
        <p:spPr>
          <a:xfrm>
            <a:off x="6629400" y="1170930"/>
            <a:ext cx="246576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RMSE</a:t>
            </a:r>
            <a:endParaRPr lang="en-US" sz="1300"/>
          </a:p>
        </p:txBody>
      </p:sp>
      <p:sp>
        <p:nvSpPr>
          <p:cNvPr id="14" name="Text 7"/>
          <p:cNvSpPr/>
          <p:nvPr/>
        </p:nvSpPr>
        <p:spPr>
          <a:xfrm>
            <a:off x="6629400" y="1478260"/>
            <a:ext cx="2465769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>
                <a:solidFill>
                  <a:srgbClr val="FFE9B0"/>
                </a:solidFill>
                <a:latin typeface="Orbitron"/>
                <a:ea typeface="Orbitron"/>
                <a:cs typeface="Orbitron"/>
              </a:rPr>
              <a:t>76.0</a:t>
            </a:r>
            <a:endParaRPr lang="en-US" sz="2800"/>
          </a:p>
        </p:txBody>
      </p:sp>
      <p:sp>
        <p:nvSpPr>
          <p:cNvPr id="15" name="Text 8"/>
          <p:cNvSpPr/>
          <p:nvPr/>
        </p:nvSpPr>
        <p:spPr>
          <a:xfrm>
            <a:off x="6629400" y="2052290"/>
            <a:ext cx="24657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W/m²</a:t>
            </a:r>
            <a:endParaRPr lang="en-US" sz="1300"/>
          </a:p>
        </p:txBody>
      </p:sp>
      <p:sp>
        <p:nvSpPr>
          <p:cNvPr id="16" name="Shape 9"/>
          <p:cNvSpPr/>
          <p:nvPr/>
        </p:nvSpPr>
        <p:spPr>
          <a:xfrm>
            <a:off x="9372600" y="961380"/>
            <a:ext cx="2813050" cy="1523305"/>
          </a:xfrm>
          <a:prstGeom prst="roundRect">
            <a:avLst>
              <a:gd name="adj" fmla="val 7087"/>
            </a:avLst>
          </a:prstGeom>
          <a:solidFill>
            <a:srgbClr val="120A24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9582150" y="1170930"/>
            <a:ext cx="246576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R²</a:t>
            </a:r>
            <a:endParaRPr lang="en-US" sz="1300"/>
          </a:p>
        </p:txBody>
      </p:sp>
      <p:sp>
        <p:nvSpPr>
          <p:cNvPr id="18" name="Text 11"/>
          <p:cNvSpPr/>
          <p:nvPr/>
        </p:nvSpPr>
        <p:spPr>
          <a:xfrm>
            <a:off x="9582150" y="1478260"/>
            <a:ext cx="2465769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20"/>
              </a:lnSpc>
              <a:buNone/>
            </a:pPr>
            <a:r>
              <a:rPr lang="en-US" sz="2800" b="1">
                <a:solidFill>
                  <a:srgbClr val="FFE9B0"/>
                </a:solidFill>
                <a:latin typeface="Orbitron"/>
                <a:ea typeface="Orbitron"/>
                <a:cs typeface="Orbitron"/>
              </a:rPr>
              <a:t>0.94</a:t>
            </a:r>
            <a:endParaRPr lang="en-US" sz="2800"/>
          </a:p>
        </p:txBody>
      </p:sp>
      <p:sp>
        <p:nvSpPr>
          <p:cNvPr id="19" name="Text 12"/>
          <p:cNvSpPr/>
          <p:nvPr/>
        </p:nvSpPr>
        <p:spPr>
          <a:xfrm>
            <a:off x="9582150" y="2052290"/>
            <a:ext cx="2465769" cy="248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5"/>
              </a:lnSpc>
              <a:buNone/>
            </a:pPr>
            <a:r>
              <a:rPr lang="en-US" sz="13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random split</a:t>
            </a:r>
            <a:endParaRPr lang="en-US" sz="1300"/>
          </a:p>
        </p:txBody>
      </p:sp>
      <p:sp>
        <p:nvSpPr>
          <p:cNvPr id="20" name="Text 13"/>
          <p:cNvSpPr/>
          <p:nvPr/>
        </p:nvSpPr>
        <p:spPr>
          <a:xfrm>
            <a:off x="6413500" y="2618036"/>
            <a:ext cx="5951855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3E6C8"/>
                </a:solidFill>
                <a:latin typeface="Share Tech Mono"/>
                <a:ea typeface="Share Tech Mono"/>
                <a:cs typeface="Share Tech Mono"/>
              </a:rPr>
              <a:t>Random Forest. Harder chronological test: RMSE 132, R² 0.75.</a:t>
            </a:r>
            <a:endParaRPr lang="en-US" sz="1400"/>
          </a:p>
        </p:txBody>
      </p:sp>
      <p:sp>
        <p:nvSpPr>
          <p:cNvPr id="21" name="Text 14"/>
          <p:cNvSpPr/>
          <p:nvPr/>
        </p:nvSpPr>
        <p:spPr>
          <a:xfrm>
            <a:off x="6413500" y="2993926"/>
            <a:ext cx="5951855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>
                <a:solidFill>
                  <a:srgbClr val="FFB347"/>
                </a:solidFill>
                <a:latin typeface="Share Tech Mono"/>
                <a:ea typeface="Share Tech Mono"/>
                <a:cs typeface="Share Tech Mono"/>
              </a:rPr>
              <a:t>Top features: temperature (0.57), minutes since sunrise (0.16), minute of day (0.15).</a:t>
            </a:r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:p159="http://schemas.microsoft.com/office/powerpoint/2015/09/main" Requires="p159">
      <p:transition spd="fast" p14:dur="500">
        <p159:morph option="byObject"/>
      </p:transition>
    </mc:Choice>
    <mc:Fallback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TAC WARS: Solar Radiation Analysis">
  <a:themeElements>
    <a:clrScheme name="STAC WARS: Solar Radiation Analysis">
      <a:dk1>
        <a:srgbClr val="141413"/>
      </a:dk1>
      <a:lt1>
        <a:srgbClr val="FFB347"/>
      </a:lt1>
      <a:dk2>
        <a:srgbClr val="4F3C20"/>
      </a:dk2>
      <a:lt2>
        <a:srgbClr val="E8A342"/>
      </a:lt2>
      <a:accent1>
        <a:srgbClr val="F3E6C8"/>
      </a:accent1>
      <a:accent2>
        <a:srgbClr val="FFE9B0"/>
      </a:accent2>
      <a:accent3>
        <a:srgbClr val="FFF4D6"/>
      </a:accent3>
      <a:accent4>
        <a:srgbClr val="241240"/>
      </a:accent4>
      <a:accent5>
        <a:srgbClr val="7FE7FF"/>
      </a:accent5>
      <a:accent6>
        <a:srgbClr val="8A7E62"/>
      </a:accent6>
      <a:hlink>
        <a:srgbClr val="0563C1"/>
      </a:hlink>
      <a:folHlink>
        <a:srgbClr val="954F72"/>
      </a:folHlink>
    </a:clrScheme>
    <a:fontScheme name="STAC WARS: Solar Radiation Analysis">
      <a:majorFont>
        <a:latin typeface="Orbit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hare Tech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STAC WARS: Solar Radiation Analysis">
  <a:themeElements>
    <a:clrScheme name="STAC WARS: Solar Radiation Analysis">
      <a:dk1>
        <a:srgbClr val="141413"/>
      </a:dk1>
      <a:lt1>
        <a:srgbClr val="FFB347"/>
      </a:lt1>
      <a:dk2>
        <a:srgbClr val="4F3C20"/>
      </a:dk2>
      <a:lt2>
        <a:srgbClr val="E8A342"/>
      </a:lt2>
      <a:accent1>
        <a:srgbClr val="F3E6C8"/>
      </a:accent1>
      <a:accent2>
        <a:srgbClr val="FFE9B0"/>
      </a:accent2>
      <a:accent3>
        <a:srgbClr val="FFF4D6"/>
      </a:accent3>
      <a:accent4>
        <a:srgbClr val="241240"/>
      </a:accent4>
      <a:accent5>
        <a:srgbClr val="7FE7FF"/>
      </a:accent5>
      <a:accent6>
        <a:srgbClr val="8A7E62"/>
      </a:accent6>
      <a:hlink>
        <a:srgbClr val="0563C1"/>
      </a:hlink>
      <a:folHlink>
        <a:srgbClr val="954F72"/>
      </a:folHlink>
    </a:clrScheme>
    <a:fontScheme name="STAC WARS: Solar Radiation Analysis">
      <a:majorFont>
        <a:latin typeface="Orbitro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hare Tech Mon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>
          <a:solidFill>
            <a:schemeClr val="phClr"/>
          </a:solidFill>
          <a:prstDash val="solid"/>
          <a:miter/>
        </a:ln>
        <a:ln w="12700" cap="flat" cmpd="sng">
          <a:solidFill>
            <a:schemeClr val="phClr"/>
          </a:solidFill>
          <a:prstDash val="solid"/>
          <a:miter/>
        </a:ln>
        <a:ln w="19050" cap="flat" cmpd="sng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6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 WARS: Solar Radiation Analysis</dc:title>
  <cp:revision>1</cp:revision>
  <dcterms:created xsi:type="dcterms:W3CDTF">2026-10-24T17:16:07Z</dcterms:created>
  <dcterms:modified xsi:type="dcterms:W3CDTF">2026-10-24T17:16:07Z</dcterms:modified>
</cp:coreProperties>
</file>